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76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Smart Stock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3327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0">
                <a:solidFill>
                  <a:srgbClr val="C9D9BD"/>
                </a:solidFill>
              </a:defRPr>
            </a:pPr>
            <a:r>
              <a:t>Inventory &amp; Sales Management Platform for Small Businesses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206240"/>
            <a:ext cx="10332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0">
                <a:solidFill>
                  <a:srgbClr val="9FC6A0"/>
                </a:solidFill>
              </a:defRPr>
            </a:pPr>
            <a:r>
              <a:t>Products  ·  Inventory  ·  Sales  ·  Insights  ·  Team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97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6362B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78867D"/>
                </a:solidFill>
              </a:defRPr>
            </a:pPr>
            <a:r>
              <a:t>Small businesses still manage products, inventory, and sales with spreadsheets, notebooks, or disconnected systems.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6060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DE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defRPr sz="1400" b="1">
                <a:solidFill>
                  <a:srgbClr val="19764F"/>
                </a:solidFill>
              </a:defRPr>
            </a:pPr>
            <a:r>
              <a:t>📉 Inaccurate stock</a:t>
            </a:r>
          </a:p>
          <a:p>
            <a:pPr>
              <a:defRPr sz="1100">
                <a:solidFill>
                  <a:srgbClr val="78867D"/>
                </a:solidFill>
              </a:defRPr>
            </a:pPr>
            <a:r>
              <a:t>Manual records drift out of sync with reality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828800"/>
            <a:ext cx="26060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DE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defRPr sz="1400" b="1">
                <a:solidFill>
                  <a:srgbClr val="19764F"/>
                </a:solidFill>
              </a:defRPr>
            </a:pPr>
            <a:r>
              <a:t>🔍 No visibility</a:t>
            </a:r>
          </a:p>
          <a:p>
            <a:pPr>
              <a:defRPr sz="1100">
                <a:solidFill>
                  <a:srgbClr val="78867D"/>
                </a:solidFill>
              </a:defRPr>
            </a:pPr>
            <a:r>
              <a:t>Hard to see what sells, what's left, and what's stuck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26060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DE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defRPr sz="1400" b="1">
                <a:solidFill>
                  <a:srgbClr val="19764F"/>
                </a:solidFill>
              </a:defRPr>
            </a:pPr>
            <a:r>
              <a:t>⚠️ Silent stockouts</a:t>
            </a:r>
          </a:p>
          <a:p>
            <a:pPr>
              <a:defRPr sz="1100">
                <a:solidFill>
                  <a:srgbClr val="78867D"/>
                </a:solidFill>
              </a:defRPr>
            </a:pPr>
            <a:r>
              <a:t>Low-stock products go unnoticed until it's too late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006839" y="1828800"/>
            <a:ext cx="260604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DE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defRPr sz="1400" b="1">
                <a:solidFill>
                  <a:srgbClr val="19764F"/>
                </a:solidFill>
              </a:defRPr>
            </a:pPr>
            <a:r>
              <a:t>📊 No insight</a:t>
            </a:r>
          </a:p>
          <a:p>
            <a:pPr>
              <a:defRPr sz="1100">
                <a:solidFill>
                  <a:srgbClr val="78867D"/>
                </a:solidFill>
              </a:defRPr>
            </a:pPr>
            <a:r>
              <a:t>Business performance is a guess, not a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749039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26362B"/>
                </a:solidFill>
              </a:defRPr>
            </a:pPr>
            <a:r>
              <a:t>The challenge: build a centralized platform that solves all four.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29768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78867D"/>
                </a:solidFill>
              </a:defRPr>
            </a:pPr>
            <a:r>
              <a:t>Users: Business Owner  ·  Store Manager  ·  Sales Staff  ·  Administrator</a:t>
            </a:r>
          </a:p>
          <a:p>
            <a:pPr>
              <a:spcAft>
                <a:spcPts val="800"/>
              </a:spcAft>
              <a:defRPr sz="1400">
                <a:solidFill>
                  <a:srgbClr val="78867D"/>
                </a:solidFill>
              </a:defRPr>
            </a:pPr>
            <a:r>
              <a:t>Core needs: product management, inventory tracking, sales recording, low-stock alerts, search &amp; filtering, dashboard</a:t>
            </a:r>
          </a:p>
          <a:p>
            <a:pPr>
              <a:spcAft>
                <a:spcPts val="800"/>
              </a:spcAft>
              <a:defRPr sz="1400">
                <a:solidFill>
                  <a:srgbClr val="78867D"/>
                </a:solidFill>
              </a:defRPr>
            </a:pPr>
            <a:r>
              <a:t>Go beyond: demand forecasting, anomaly detection, an AI assistant, reports &amp; export, staff management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78867D"/>
                </a:solidFill>
              </a:defRPr>
            </a:pPr>
            <a:r>
              <a:t>Smart Stock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78867D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97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6362B"/>
                </a:solidFill>
              </a:defRPr>
            </a:pPr>
            <a:r>
              <a:t>Our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6012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78867D"/>
                </a:solidFill>
              </a:defRPr>
            </a:pPr>
            <a:r>
              <a:t>A full-stack, multi-tenant web platform — live on Vercel (frontend) and Render (API)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91640"/>
            <a:ext cx="35661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DE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defRPr sz="1400" b="1">
                <a:solidFill>
                  <a:srgbClr val="19764F"/>
                </a:solidFill>
              </a:defRPr>
            </a:pPr>
            <a:r>
              <a:t>✅ Product management</a:t>
            </a:r>
          </a:p>
          <a:p>
            <a:pPr>
              <a:defRPr sz="1100">
                <a:solidFill>
                  <a:srgbClr val="78867D"/>
                </a:solidFill>
              </a:defRPr>
            </a:pPr>
            <a:r>
              <a:t>Full CRUD with search, category filter, and price tracking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691640"/>
            <a:ext cx="35661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DE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defRPr sz="1400" b="1">
                <a:solidFill>
                  <a:srgbClr val="19764F"/>
                </a:solidFill>
              </a:defRPr>
            </a:pPr>
            <a:r>
              <a:t>✅ Inventory tracking</a:t>
            </a:r>
          </a:p>
          <a:p>
            <a:pPr>
              <a:defRPr sz="1100">
                <a:solidFill>
                  <a:srgbClr val="78867D"/>
                </a:solidFill>
              </a:defRPr>
            </a:pPr>
            <a:r>
              <a:t>Stock auto-decrements on sale; void &amp; restock restores it atomically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59" y="1691640"/>
            <a:ext cx="35661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DE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defRPr sz="1400" b="1">
                <a:solidFill>
                  <a:srgbClr val="19764F"/>
                </a:solidFill>
              </a:defRPr>
            </a:pPr>
            <a:r>
              <a:t>✅ Sales recording</a:t>
            </a:r>
          </a:p>
          <a:p>
            <a:pPr>
              <a:defRPr sz="1100">
                <a:solidFill>
                  <a:srgbClr val="78867D"/>
                </a:solidFill>
              </a:defRPr>
            </a:pPr>
            <a:r>
              <a:t>Server-computed totals &amp; profit; live-stock product picker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83280"/>
            <a:ext cx="35661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DE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defRPr sz="1400" b="1">
                <a:solidFill>
                  <a:srgbClr val="19764F"/>
                </a:solidFill>
              </a:defRPr>
            </a:pPr>
            <a:r>
              <a:t>✅ Low-stock alerts</a:t>
            </a:r>
          </a:p>
          <a:p>
            <a:pPr>
              <a:defRPr sz="1100">
                <a:solidFill>
                  <a:srgbClr val="78867D"/>
                </a:solidFill>
              </a:defRPr>
            </a:pPr>
            <a:r>
              <a:t>Configurable per-business threshold, timezone &amp; badges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3383280"/>
            <a:ext cx="35661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DE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defRPr sz="1400" b="1">
                <a:solidFill>
                  <a:srgbClr val="19764F"/>
                </a:solidFill>
              </a:defRPr>
            </a:pPr>
            <a:r>
              <a:t>✅ Dashboard &amp; analytics</a:t>
            </a:r>
          </a:p>
          <a:p>
            <a:pPr>
              <a:defRPr sz="1100">
                <a:solidFill>
                  <a:srgbClr val="78867D"/>
                </a:solidFill>
              </a:defRPr>
            </a:pPr>
            <a:r>
              <a:t>KPIs, best-seller chart, 30-day revenue/profit trend 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59" y="3383280"/>
            <a:ext cx="356616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DDE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defRPr sz="1400" b="1">
                <a:solidFill>
                  <a:srgbClr val="19764F"/>
                </a:solidFill>
              </a:defRPr>
            </a:pPr>
            <a:r>
              <a:t>✅ Staff management</a:t>
            </a:r>
          </a:p>
          <a:p>
            <a:pPr>
              <a:defRPr sz="1100">
                <a:solidFill>
                  <a:srgbClr val="78867D"/>
                </a:solidFill>
              </a:defRPr>
            </a:pPr>
            <a:r>
              <a:t>Owner invites stock managers via single-use 24h codes; revoke anytime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25780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19764F"/>
                </a:solidFill>
              </a:defRPr>
            </a:pPr>
            <a:r>
              <a:t>Bonus: AI forecasting, anomaly insights &amp; a grounded shop assistant  ·  CSV export  ·  ₦ currency  ·  timezone-correct metrics  ·  login rate-limiting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78867D"/>
                </a:solidFill>
              </a:defRPr>
            </a:pPr>
            <a:r>
              <a:t>Smart Stock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78867D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97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6362B"/>
                </a:solidFill>
              </a:defRPr>
            </a:pPr>
            <a:r>
              <a:t>How It Works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34747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7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800" b="1">
                <a:solidFill>
                  <a:srgbClr val="19764F"/>
                </a:solidFill>
              </a:defRPr>
            </a:pPr>
            <a:r>
              <a:t>Frontend</a:t>
            </a:r>
          </a:p>
          <a:p>
            <a:pPr>
              <a:defRPr sz="1200">
                <a:solidFill>
                  <a:srgbClr val="26362B"/>
                </a:solidFill>
              </a:defRPr>
            </a:pPr>
            <a:r>
              <a:t>Static HTML / CSS / vanilla JS</a:t>
            </a:r>
          </a:p>
          <a:p>
            <a:pPr>
              <a:defRPr sz="1200">
                <a:solidFill>
                  <a:srgbClr val="26362B"/>
                </a:solidFill>
              </a:defRPr>
            </a:pPr>
            <a:r>
              <a:t>Dashboard · Products · Sales · Insights · Team</a:t>
            </a:r>
          </a:p>
          <a:p>
            <a:pPr>
              <a:defRPr sz="1200">
                <a:solidFill>
                  <a:srgbClr val="26362B"/>
                </a:solidFill>
              </a:defRPr>
            </a:pPr>
            <a:r>
              <a:t>Chart.js for analytics &amp; forecast charts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1463040"/>
            <a:ext cx="34747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7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800" b="1">
                <a:solidFill>
                  <a:srgbClr val="19764F"/>
                </a:solidFill>
              </a:defRPr>
            </a:pPr>
            <a:r>
              <a:t>API</a:t>
            </a:r>
          </a:p>
          <a:p>
            <a:pPr>
              <a:defRPr sz="1200">
                <a:solidFill>
                  <a:srgbClr val="26362B"/>
                </a:solidFill>
              </a:defRPr>
            </a:pPr>
            <a:r>
              <a:t>FastAPI (Python) on Render</a:t>
            </a:r>
          </a:p>
          <a:p>
            <a:pPr>
              <a:defRPr sz="1200">
                <a:solidFill>
                  <a:srgbClr val="26362B"/>
                </a:solidFill>
              </a:defRPr>
            </a:pPr>
            <a:r>
              <a:t>JWT auth · Argon2 hashing</a:t>
            </a:r>
          </a:p>
          <a:p>
            <a:pPr>
              <a:defRPr sz="1200">
                <a:solidFill>
                  <a:srgbClr val="26362B"/>
                </a:solidFill>
              </a:defRPr>
            </a:pPr>
            <a:r>
              <a:t>Role-based access (Owner / Stock Manager)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955279" y="1463040"/>
            <a:ext cx="347472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97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tIns="182880"/>
          <a:lstStyle/>
          <a:p>
            <a:pPr algn="ctr">
              <a:defRPr sz="1800" b="1">
                <a:solidFill>
                  <a:srgbClr val="19764F"/>
                </a:solidFill>
              </a:defRPr>
            </a:pPr>
            <a:r>
              <a:t>Database</a:t>
            </a:r>
          </a:p>
          <a:p>
            <a:pPr>
              <a:defRPr sz="1200">
                <a:solidFill>
                  <a:srgbClr val="26362B"/>
                </a:solidFill>
              </a:defRPr>
            </a:pPr>
            <a:r>
              <a:t>PostgreSQL (Neon)</a:t>
            </a:r>
          </a:p>
          <a:p>
            <a:pPr>
              <a:defRPr sz="1200">
                <a:solidFill>
                  <a:srgbClr val="26362B"/>
                </a:solidFill>
              </a:defRPr>
            </a:pPr>
            <a:r>
              <a:t>Multi-tenant: every query scoped by business_id</a:t>
            </a:r>
          </a:p>
          <a:p>
            <a:pPr>
              <a:defRPr sz="1200">
                <a:solidFill>
                  <a:srgbClr val="26362B"/>
                </a:solidFill>
              </a:defRPr>
            </a:pPr>
            <a:r>
              <a:t>Transactional stock integrity with row locks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20624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6362B"/>
                </a:solidFill>
              </a:defRPr>
            </a:pPr>
            <a:r>
              <a:t>Security &amp; integrity built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70916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>
                <a:solidFill>
                  <a:srgbClr val="78867D"/>
                </a:solidFill>
              </a:defRPr>
            </a:pPr>
            <a:r>
              <a:t>Multi-tenant isolation — membership re-verified from the database on every request; removing a member revokes access instantly</a:t>
            </a:r>
          </a:p>
          <a:p>
            <a:pPr>
              <a:spcAft>
                <a:spcPts val="600"/>
              </a:spcAft>
              <a:defRPr sz="1300">
                <a:solidFill>
                  <a:srgbClr val="78867D"/>
                </a:solidFill>
              </a:defRPr>
            </a:pPr>
            <a:r>
              <a:t>Sales use FOR UPDATE row locks — no overselling under concurrent use; prices snapshotted so profit history survives price edits</a:t>
            </a:r>
          </a:p>
          <a:p>
            <a:pPr>
              <a:spcAft>
                <a:spcPts val="600"/>
              </a:spcAft>
              <a:defRPr sz="1300">
                <a:solidFill>
                  <a:srgbClr val="78867D"/>
                </a:solidFill>
              </a:defRPr>
            </a:pPr>
            <a:r>
              <a:t>Products with recorded sales cannot be deleted — data integrity enforced at the database level with composite foreign keys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78867D"/>
                </a:solidFill>
              </a:defRPr>
            </a:pPr>
            <a:r>
              <a:t>Smart Stock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78867D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97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6362B"/>
                </a:solidFill>
              </a:defRPr>
            </a:pPr>
            <a:r>
              <a:t>Use of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932688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78867D"/>
                </a:solidFill>
              </a:defRPr>
            </a:pPr>
            <a:r>
              <a:t>AI that advises the owner — but never guesses. The model phrases facts; it never invents them.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554480"/>
            <a:ext cx="3566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defRPr sz="1400" b="1">
                <a:solidFill>
                  <a:srgbClr val="19764F"/>
                </a:solidFill>
              </a:defRPr>
            </a:pPr>
            <a:r>
              <a:t>📈 Demand forecasting</a:t>
            </a:r>
          </a:p>
          <a:p>
            <a:pPr>
              <a:defRPr sz="1100">
                <a:solidFill>
                  <a:srgbClr val="78867D"/>
                </a:solidFill>
              </a:defRPr>
            </a:pPr>
            <a:r>
              <a:t>Per product: sales rate, trend, days of stock, projected stockout, reorder-by date and suggested order quantity.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1554480"/>
            <a:ext cx="3566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defRPr sz="1400" b="1">
                <a:solidFill>
                  <a:srgbClr val="19764F"/>
                </a:solidFill>
              </a:defRPr>
            </a:pPr>
            <a:r>
              <a:t>🔍 Anomaly insights</a:t>
            </a:r>
          </a:p>
          <a:p>
            <a:pPr>
              <a:defRPr sz="1100">
                <a:solidFill>
                  <a:srgbClr val="78867D"/>
                </a:solidFill>
              </a:defRPr>
            </a:pPr>
            <a:r>
              <a:t>Flags sales spikes, demand drops, stale stock and below-cost selling — each with a severity.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59" y="1554480"/>
            <a:ext cx="356616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DE5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/>
          <a:lstStyle/>
          <a:p>
            <a:pPr algn="ctr">
              <a:defRPr sz="1400" b="1">
                <a:solidFill>
                  <a:srgbClr val="19764F"/>
                </a:solidFill>
              </a:defRPr>
            </a:pPr>
            <a:r>
              <a:t>💬 Grounded assistant</a:t>
            </a:r>
          </a:p>
          <a:p>
            <a:pPr>
              <a:defRPr sz="1100">
                <a:solidFill>
                  <a:srgbClr val="78867D"/>
                </a:solidFill>
              </a:defRPr>
            </a:pPr>
            <a:r>
              <a:t>Chat answers built from a live snapshot: today's sales &amp; profit, low stock, top sellers, urgent reorders.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6362B"/>
                </a:solidFill>
              </a:defRPr>
            </a:pPr>
            <a:r>
              <a:t>How it stays trustworthy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114800"/>
            <a:ext cx="105156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78867D"/>
                </a:solidFill>
              </a:defRPr>
            </a:pPr>
            <a:r>
              <a:t>The numbers are computed in pure Python from SQL history — the LLM (Gemini) only rephrases those computed facts</a:t>
            </a:r>
          </a:p>
          <a:p>
            <a:pPr>
              <a:spcAft>
                <a:spcPts val="800"/>
              </a:spcAft>
              <a:defRPr sz="1300">
                <a:solidFill>
                  <a:srgbClr val="78867D"/>
                </a:solidFill>
              </a:defRPr>
            </a:pPr>
            <a:r>
              <a:t>Deterministic fallback: if the key is missing, the network fails, or the free tier rate-limits, a rules engine answers instead — the demo never fails</a:t>
            </a:r>
          </a:p>
          <a:p>
            <a:pPr>
              <a:spcAft>
                <a:spcPts val="800"/>
              </a:spcAft>
              <a:defRPr sz="1300">
                <a:solidFill>
                  <a:srgbClr val="78867D"/>
                </a:solidFill>
              </a:defRPr>
            </a:pPr>
            <a:r>
              <a:t>Every response reports its source (gemini or rules), so the user always knows where the answer came from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78867D"/>
                </a:solidFill>
              </a:defRPr>
            </a:pPr>
            <a:r>
              <a:t>Smart Stock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78867D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97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6362B"/>
                </a:solidFill>
              </a:defRPr>
            </a:pPr>
            <a:r>
              <a:t>The Product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005840"/>
            <a:ext cx="5120640" cy="1691640"/>
          </a:xfrm>
          <a:prstGeom prst="roundRect">
            <a:avLst/>
          </a:prstGeom>
          <a:solidFill>
            <a:srgbClr val="D8E2D8"/>
          </a:solidFill>
          <a:ln w="19050">
            <a:solidFill>
              <a:srgbClr val="B7C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9764F"/>
                </a:solidFill>
              </a:defRPr>
            </a:pPr>
            <a:r>
              <a:t>Dashboard</a:t>
            </a:r>
          </a:p>
          <a:p>
            <a:pPr algn="ctr">
              <a:defRPr sz="1000">
                <a:solidFill>
                  <a:srgbClr val="78867D"/>
                </a:solidFill>
              </a:defRPr>
            </a:pPr>
            <a:r>
              <a:t>[ screenshot ]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1005840"/>
            <a:ext cx="5120640" cy="1691640"/>
          </a:xfrm>
          <a:prstGeom prst="roundRect">
            <a:avLst/>
          </a:prstGeom>
          <a:solidFill>
            <a:srgbClr val="D8E2D8"/>
          </a:solidFill>
          <a:ln w="19050">
            <a:solidFill>
              <a:srgbClr val="B7C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9764F"/>
                </a:solidFill>
              </a:defRPr>
            </a:pPr>
            <a:r>
              <a:t>Insights (AI)</a:t>
            </a:r>
          </a:p>
          <a:p>
            <a:pPr algn="ctr">
              <a:defRPr sz="1000">
                <a:solidFill>
                  <a:srgbClr val="78867D"/>
                </a:solidFill>
              </a:defRPr>
            </a:pPr>
            <a:r>
              <a:t>[ screenshot 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880360"/>
            <a:ext cx="5120640" cy="1691640"/>
          </a:xfrm>
          <a:prstGeom prst="roundRect">
            <a:avLst/>
          </a:prstGeom>
          <a:solidFill>
            <a:srgbClr val="D8E2D8"/>
          </a:solidFill>
          <a:ln w="19050">
            <a:solidFill>
              <a:srgbClr val="B7C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9764F"/>
                </a:solidFill>
              </a:defRPr>
            </a:pPr>
            <a:r>
              <a:t>Products</a:t>
            </a:r>
          </a:p>
          <a:p>
            <a:pPr algn="ctr">
              <a:defRPr sz="1000">
                <a:solidFill>
                  <a:srgbClr val="78867D"/>
                </a:solidFill>
              </a:defRPr>
            </a:pPr>
            <a:r>
              <a:t>[ screenshot 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2880360"/>
            <a:ext cx="5120640" cy="1691640"/>
          </a:xfrm>
          <a:prstGeom prst="roundRect">
            <a:avLst/>
          </a:prstGeom>
          <a:solidFill>
            <a:srgbClr val="D8E2D8"/>
          </a:solidFill>
          <a:ln w="19050">
            <a:solidFill>
              <a:srgbClr val="B7C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9764F"/>
                </a:solidFill>
              </a:defRPr>
            </a:pPr>
            <a:r>
              <a:t>Sales</a:t>
            </a:r>
          </a:p>
          <a:p>
            <a:pPr algn="ctr">
              <a:defRPr sz="1000">
                <a:solidFill>
                  <a:srgbClr val="78867D"/>
                </a:solidFill>
              </a:defRPr>
            </a:pPr>
            <a:r>
              <a:t>[ screenshot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4754880"/>
            <a:ext cx="5120640" cy="1691640"/>
          </a:xfrm>
          <a:prstGeom prst="roundRect">
            <a:avLst/>
          </a:prstGeom>
          <a:solidFill>
            <a:srgbClr val="D8E2D8"/>
          </a:solidFill>
          <a:ln w="19050">
            <a:solidFill>
              <a:srgbClr val="B7C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9764F"/>
                </a:solidFill>
              </a:defRPr>
            </a:pPr>
            <a:r>
              <a:t>Shop Assistant</a:t>
            </a:r>
          </a:p>
          <a:p>
            <a:pPr algn="ctr">
              <a:defRPr sz="1000">
                <a:solidFill>
                  <a:srgbClr val="78867D"/>
                </a:solidFill>
              </a:defRPr>
            </a:pPr>
            <a:r>
              <a:t>[ screenshot 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754880"/>
            <a:ext cx="5120640" cy="1691640"/>
          </a:xfrm>
          <a:prstGeom prst="roundRect">
            <a:avLst/>
          </a:prstGeom>
          <a:solidFill>
            <a:srgbClr val="D8E2D8"/>
          </a:solidFill>
          <a:ln w="19050">
            <a:solidFill>
              <a:srgbClr val="B7C9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19764F"/>
                </a:solidFill>
              </a:defRPr>
            </a:pPr>
            <a:r>
              <a:t>Team &amp; Settings</a:t>
            </a:r>
          </a:p>
          <a:p>
            <a:pPr algn="ctr">
              <a:defRPr sz="1000">
                <a:solidFill>
                  <a:srgbClr val="78867D"/>
                </a:solidFill>
              </a:defRPr>
            </a:pPr>
            <a:r>
              <a:t>[ screenshot 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78867D"/>
                </a:solidFill>
              </a:defRPr>
            </a:pPr>
            <a:r>
              <a:t>Smart Stock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78867D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1976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200" b="1">
                <a:solidFill>
                  <a:srgbClr val="26362B"/>
                </a:solidFill>
              </a:defRPr>
            </a:pPr>
            <a:r>
              <a:t>Results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280160"/>
            <a:ext cx="26060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D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19764F"/>
                </a:solidFill>
              </a:defRPr>
            </a:pPr>
            <a:r>
              <a:t>100%</a:t>
            </a:r>
          </a:p>
          <a:p>
            <a:pPr algn="ctr">
              <a:defRPr sz="1200">
                <a:solidFill>
                  <a:srgbClr val="78867D"/>
                </a:solidFill>
              </a:defRPr>
            </a:pPr>
            <a:r>
              <a:t>Core requirements</a:t>
            </a:r>
            <a:br/>
            <a:r>
              <a:t>delivered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74720" y="1280160"/>
            <a:ext cx="26060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D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19764F"/>
                </a:solidFill>
              </a:defRPr>
            </a:pPr>
            <a:r>
              <a:t>73</a:t>
            </a:r>
          </a:p>
          <a:p>
            <a:pPr algn="ctr">
              <a:defRPr sz="1200">
                <a:solidFill>
                  <a:srgbClr val="78867D"/>
                </a:solidFill>
              </a:defRPr>
            </a:pPr>
            <a:r>
              <a:t>Automated unit</a:t>
            </a:r>
            <a:br/>
            <a:r>
              <a:t>tests passing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280160"/>
            <a:ext cx="26060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D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19764F"/>
                </a:solidFill>
              </a:defRPr>
            </a:pPr>
            <a:r>
              <a:t>30</a:t>
            </a:r>
          </a:p>
          <a:p>
            <a:pPr algn="ctr">
              <a:defRPr sz="1200">
                <a:solidFill>
                  <a:srgbClr val="78867D"/>
                </a:solidFill>
              </a:defRPr>
            </a:pPr>
            <a:r>
              <a:t>REST API</a:t>
            </a:r>
            <a:br/>
            <a:r>
              <a:t>operations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0" y="1280160"/>
            <a:ext cx="260604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D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600" b="1">
                <a:solidFill>
                  <a:srgbClr val="19764F"/>
                </a:solidFill>
              </a:defRPr>
            </a:pPr>
            <a:r>
              <a:t>10</a:t>
            </a:r>
          </a:p>
          <a:p>
            <a:pPr algn="ctr">
              <a:defRPr sz="1200">
                <a:solidFill>
                  <a:srgbClr val="78867D"/>
                </a:solidFill>
              </a:defRPr>
            </a:pPr>
            <a:r>
              <a:t>Application</a:t>
            </a:r>
            <a:br/>
            <a:r>
              <a:t>pages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383280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6362B"/>
                </a:solidFill>
              </a:defRPr>
            </a:pPr>
            <a:r>
              <a:t>Deployed &amp; production-ready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8862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78867D"/>
                </a:solidFill>
              </a:defRPr>
            </a:pPr>
            <a:r>
              <a:t>Live frontend on Vercel  ·  FastAPI on Render  ·  Database on Neon (PostgreSQL)</a:t>
            </a:r>
          </a:p>
          <a:p>
            <a:pPr>
              <a:spcAft>
                <a:spcPts val="800"/>
              </a:spcAft>
              <a:defRPr sz="1400">
                <a:solidFill>
                  <a:srgbClr val="78867D"/>
                </a:solidFill>
              </a:defRPr>
            </a:pPr>
            <a:r>
              <a:t>AI: forecasting + anomaly insights + a grounded assistant (Gemini, with a deterministic fallback)</a:t>
            </a:r>
          </a:p>
          <a:p>
            <a:pPr>
              <a:spcAft>
                <a:spcPts val="800"/>
              </a:spcAft>
              <a:defRPr sz="1400">
                <a:solidFill>
                  <a:srgbClr val="78867D"/>
                </a:solidFill>
              </a:defRPr>
            </a:pPr>
            <a:r>
              <a:t>CI runs the full 73-test suite on every push via GitHub Actions</a:t>
            </a:r>
          </a:p>
          <a:p>
            <a:pPr>
              <a:spcAft>
                <a:spcPts val="800"/>
              </a:spcAft>
              <a:defRPr sz="1400">
                <a:solidFill>
                  <a:srgbClr val="78867D"/>
                </a:solidFill>
              </a:defRPr>
            </a:pPr>
            <a:r>
              <a:t>Migrations 001–006 applied; all ten pages validated end-to-end against the live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3657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78867D"/>
                </a:solidFill>
              </a:defRPr>
            </a:pPr>
            <a:r>
              <a:t>Smart Stock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000" b="0">
                <a:solidFill>
                  <a:srgbClr val="78867D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